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 1. Presentar el equipo y el objetivo: proteger The Store con un WAF en el punto de entrada, sin tocar el código de los microservicios. Adelantar el hilo: auditamos, diseñamos, implementamos, medimos.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 1. Explicar la topología: única puerta de entrada, backends internos. El problema es transversal a 3 lenguajes; por eso un WAF en el ingress es la mejor relación costo/beneficio.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 1. 10 vectores agrupados en 6 clases. Destacar los críticos: SSRF/traversal por el ProxyController y Actuator expuesto. Todos respondían 200 OK antes del WAF.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 2. La clave del diseño: el WAF va embebido en el ingress que ya existe; la imagen oficial trae libmodsecurity y el CRS. Cuatro piezas declarativas. No tocamos los microservicios.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 2. Mostrar el reparto de trabajo entre el CRS y las reglas propias. Es el corazón del diseño: el CRS resuelve ataques genéricos; nosotros sólo escribimos reglas para lo que es propio de la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 2. Recorrer el camino de un request desde el host hasta los backends. El WAF se inserta en el ingress (norte-sur). El este-oeste entre pods no pasa por el WAF: lo retomamos en limitaciones.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 3. Este es el momento de la demo en vivo: correr install-waf y mostrar cada caso pasar de 200 a 403/429. Si la demo falla, esta tabla es el respaldo. Mostrar también que / y /actuator/health siguen en 200.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 3. El resultado duro: 23/23. El audit log de ModSecurity prueba la defensa en profundidad: reglas propias + CRS actuando juntos. Mostrar una entrada real con kubectl exec ... tail si hay tiempo.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 3. La cátedra suele preguntar limitaciones en la defensa oral; adelantarse muestra dominio. Recalcar el este-oeste y que el WAF no arregla el código de fondo.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 (los 3). Recapitular el criterio de éxito cumplido y abrir a preguntas. Tener listo el audit log y la terminal por si piden ver algo en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1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4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4A100"/>
                </a:solidFill>
                <a:latin typeface="Calibri"/>
              </a:rPr>
              <a:t>WEB APPLICATION FIREWALL · ITBA · REDES 1C2026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106070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FFFFFF"/>
                </a:solidFill>
                <a:latin typeface="Trebuchet MS"/>
              </a:rPr>
              <a:t>Protección de servicios con un WAF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FFFFFF"/>
                </a:solidFill>
                <a:latin typeface="Trebuchet MS"/>
              </a:rPr>
              <a:t>para The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4612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CADCFC"/>
                </a:solidFill>
                <a:latin typeface="Calibri"/>
              </a:rPr>
              <a:t>ModSecurity v3  +  OWASP Core Rule Set  +  reglas custom, sobre ingress-nginx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886200"/>
            <a:ext cx="7680960" cy="960120"/>
          </a:xfrm>
          <a:prstGeom prst="roundRect">
            <a:avLst>
              <a:gd name="adj" fmla="val 8000"/>
            </a:avLst>
          </a:prstGeom>
          <a:solidFill>
            <a:srgbClr val="142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069080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ADCFC"/>
                </a:solidFill>
                <a:latin typeface="Consolas"/>
              </a:rPr>
              <a:t>$ curl http://localhost/actuator/prometheus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82"/>
                </a:solidFill>
                <a:latin typeface="Consolas"/>
              </a:rPr>
              <a:t>  pre-WAF  200 OK  (19 KB filtrados)      post-WAF  </a:t>
            </a:r>
            <a:r>
              <a:rPr sz="1250" b="1" i="0">
                <a:solidFill>
                  <a:srgbClr val="2FAE66"/>
                </a:solidFill>
                <a:latin typeface="Consolas"/>
              </a:rPr>
              <a:t>403 Forbidden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2120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F4A100"/>
                </a:solidFill>
                <a:latin typeface="Calibri"/>
              </a:rPr>
              <a:t>Grupo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CADCFC"/>
                </a:solidFill>
                <a:latin typeface="Calibri"/>
              </a:rPr>
              <a:t>Mauro Vella  ·  Enrique Castillo (68321)  ·  Federico Inti García Lauberer (61374)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C7293"/>
                </a:solidFill>
                <a:latin typeface="Calibri"/>
              </a:rPr>
              <a:t>CONTEXTO Y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14233B"/>
                </a:solidFill>
                <a:latin typeface="Trebuchet MS"/>
              </a:rPr>
              <a:t>The Store: 5 microservicios, 1 puerta, 0 defensas L7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91640"/>
            <a:ext cx="64008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14233B"/>
                </a:solidFill>
                <a:latin typeface="Calibri"/>
              </a:rPr>
              <a:t>Una app e-commerce sobre Kind/Kubernetes: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14233B"/>
                </a:solidFill>
                <a:latin typeface="Calibri"/>
              </a:rPr>
              <a:t>ui (Java/Spring) publica la UI; catalog (Go), carts, orders (Java) y checkout (Node) son ClusterIP internos.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14233B"/>
                </a:solidFill>
                <a:latin typeface="Calibri"/>
              </a:rPr>
              <a:t>Toda la entrada externa pasa por un único punto: ingress-nginx en el puerto 80/443 del host.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14233B"/>
                </a:solidFill>
                <a:latin typeface="Calibri"/>
              </a:rPr>
              <a:t>Sin rate limiting, sin scanner detection, sin headers de seguridad.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14233B"/>
                </a:solidFill>
                <a:latin typeface="Calibri"/>
              </a:rPr>
              <a:t>Arreglar en Java + Go + Node por separado = cambios distribuidos en 3 lenguajes.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C7293"/>
                </a:solidFill>
                <a:latin typeface="Calibri"/>
              </a:rPr>
              <a:t>Un WAF aplica una política única en el borde, sin tocar el código.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828800"/>
            <a:ext cx="4297680" cy="3383280"/>
          </a:xfrm>
          <a:prstGeom prst="roundRect">
            <a:avLst>
              <a:gd name="adj" fmla="val 6000"/>
            </a:avLst>
          </a:prstGeom>
          <a:solidFill>
            <a:srgbClr val="0E2148"/>
          </a:solidFill>
          <a:ln w="12700">
            <a:solidFill>
              <a:srgbClr val="0E21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0" y="2148840"/>
            <a:ext cx="374903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200" b="1" i="0">
                <a:solidFill>
                  <a:srgbClr val="F4A100"/>
                </a:solidFill>
                <a:latin typeface="Trebuchet MS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3429000"/>
            <a:ext cx="374903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vectores explotables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sin autenticación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1">
                <a:solidFill>
                  <a:srgbClr val="CADCFC"/>
                </a:solidFill>
                <a:latin typeface="Calibri"/>
              </a:rPr>
              <a:t>confirmados en la auditoría pre-WAF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Calibri"/>
              </a:rPr>
              <a:t>TPE Tema 9 · Protección de Servicios con WAF · The Store · Grupo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37376"/>
            <a:ext cx="6400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B6B82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C7293"/>
                </a:solidFill>
                <a:latin typeface="Calibri"/>
              </a:rPr>
              <a:t>AUDITORÍA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14233B"/>
                </a:solidFill>
                <a:latin typeface="Trebuchet MS"/>
              </a:rPr>
              <a:t>10 hallazgos de la auditoría (6 clases)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37360"/>
          <a:ext cx="7040879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3977639"/>
                <a:gridCol w="1234440"/>
                <a:gridCol w="105156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73152" marT="27432" marB="27432">
                    <a:solidFill>
                      <a:srgbClr val="0E21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Clase de hallazgo</a:t>
                      </a:r>
                    </a:p>
                  </a:txBody>
                  <a:tcPr marL="73152" marT="27432" marB="27432">
                    <a:solidFill>
                      <a:srgbClr val="0E21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Sev.</a:t>
                      </a:r>
                    </a:p>
                  </a:txBody>
                  <a:tcPr marL="73152" marT="27432" marB="27432">
                    <a:solidFill>
                      <a:srgbClr val="0E21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OWASP</a:t>
                      </a:r>
                    </a:p>
                  </a:txBody>
                  <a:tcPr marL="73152" marT="27432" marB="27432">
                    <a:solidFill>
                      <a:srgbClr val="0E214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7293"/>
                          </a:solidFill>
                          <a:latin typeface="Consolas"/>
                        </a:rPr>
                        <a:t>H1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4233B"/>
                          </a:solidFill>
                          <a:latin typeface="Calibri"/>
                        </a:rPr>
                        <a:t>SSRF + path traversal vía /proxy/**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4233B"/>
                          </a:solidFill>
                          <a:latin typeface="Calibri"/>
                        </a:rPr>
                        <a:t>Crítica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4233B"/>
                          </a:solidFill>
                          <a:latin typeface="Calibri"/>
                        </a:rPr>
                        <a:t>A03/A10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7293"/>
                          </a:solidFill>
                          <a:latin typeface="Consolas"/>
                        </a:rPr>
                        <a:t>H2</a:t>
                      </a:r>
                    </a:p>
                  </a:txBody>
                  <a:tcPr marL="73152" marT="18288" marB="18288">
                    <a:solidFill>
                      <a:srgbClr val="ECF1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4233B"/>
                          </a:solidFill>
                          <a:latin typeface="Calibri"/>
                        </a:rPr>
                        <a:t>Inyecciones en checkout (XSS/SQLi/CRLF)</a:t>
                      </a:r>
                    </a:p>
                  </a:txBody>
                  <a:tcPr marL="73152" marT="18288" marB="18288">
                    <a:solidFill>
                      <a:srgbClr val="ECF1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4233B"/>
                          </a:solidFill>
                          <a:latin typeface="Calibri"/>
                        </a:rPr>
                        <a:t>Alta</a:t>
                      </a:r>
                    </a:p>
                  </a:txBody>
                  <a:tcPr marL="73152" marT="18288" marB="18288">
                    <a:solidFill>
                      <a:srgbClr val="ECF1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4233B"/>
                          </a:solidFill>
                          <a:latin typeface="Calibri"/>
                        </a:rPr>
                        <a:t>A03</a:t>
                      </a:r>
                    </a:p>
                  </a:txBody>
                  <a:tcPr marL="73152" marT="18288" marB="18288">
                    <a:solidFill>
                      <a:srgbClr val="ECF1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7293"/>
                          </a:solidFill>
                          <a:latin typeface="Consolas"/>
                        </a:rPr>
                        <a:t>H3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4233B"/>
                          </a:solidFill>
                          <a:latin typeface="Calibri"/>
                        </a:rPr>
                        <a:t>Chat sin validación / prompt injection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4233B"/>
                          </a:solidFill>
                          <a:latin typeface="Calibri"/>
                        </a:rPr>
                        <a:t>Alta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4233B"/>
                          </a:solidFill>
                          <a:latin typeface="Calibri"/>
                        </a:rPr>
                        <a:t>A04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7293"/>
                          </a:solidFill>
                          <a:latin typeface="Consolas"/>
                        </a:rPr>
                        <a:t>H4</a:t>
                      </a:r>
                    </a:p>
                  </a:txBody>
                  <a:tcPr marL="73152" marT="18288" marB="18288">
                    <a:solidFill>
                      <a:srgbClr val="ECF1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4233B"/>
                          </a:solidFill>
                          <a:latin typeface="Calibri"/>
                        </a:rPr>
                        <a:t>Spring Actuator expuesto</a:t>
                      </a:r>
                    </a:p>
                  </a:txBody>
                  <a:tcPr marL="73152" marT="18288" marB="18288">
                    <a:solidFill>
                      <a:srgbClr val="ECF1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4233B"/>
                          </a:solidFill>
                          <a:latin typeface="Calibri"/>
                        </a:rPr>
                        <a:t>Alta</a:t>
                      </a:r>
                    </a:p>
                  </a:txBody>
                  <a:tcPr marL="73152" marT="18288" marB="18288">
                    <a:solidFill>
                      <a:srgbClr val="ECF1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4233B"/>
                          </a:solidFill>
                          <a:latin typeface="Calibri"/>
                        </a:rPr>
                        <a:t>A05</a:t>
                      </a:r>
                    </a:p>
                  </a:txBody>
                  <a:tcPr marL="73152" marT="18288" marB="18288">
                    <a:solidFill>
                      <a:srgbClr val="ECF1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7293"/>
                          </a:solidFill>
                          <a:latin typeface="Consolas"/>
                        </a:rPr>
                        <a:t>H5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4233B"/>
                          </a:solidFill>
                          <a:latin typeface="Calibri"/>
                        </a:rPr>
                        <a:t>Confianza en X-Forwarded-*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4233B"/>
                          </a:solidFill>
                          <a:latin typeface="Calibri"/>
                        </a:rPr>
                        <a:t>Media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4233B"/>
                          </a:solidFill>
                          <a:latin typeface="Calibri"/>
                        </a:rPr>
                        <a:t>A07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7293"/>
                          </a:solidFill>
                          <a:latin typeface="Consolas"/>
                        </a:rPr>
                        <a:t>H6</a:t>
                      </a:r>
                    </a:p>
                  </a:txBody>
                  <a:tcPr marL="73152" marT="18288" marB="18288">
                    <a:solidFill>
                      <a:srgbClr val="ECF1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4233B"/>
                          </a:solidFill>
                          <a:latin typeface="Calibri"/>
                        </a:rPr>
                        <a:t>Sin rate limit / scanners / headers</a:t>
                      </a:r>
                    </a:p>
                  </a:txBody>
                  <a:tcPr marL="73152" marT="18288" marB="18288">
                    <a:solidFill>
                      <a:srgbClr val="ECF1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4233B"/>
                          </a:solidFill>
                          <a:latin typeface="Calibri"/>
                        </a:rPr>
                        <a:t>Alta</a:t>
                      </a:r>
                    </a:p>
                  </a:txBody>
                  <a:tcPr marL="73152" marT="18288" marB="18288">
                    <a:solidFill>
                      <a:srgbClr val="ECF1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4233B"/>
                          </a:solidFill>
                          <a:latin typeface="Calibri"/>
                        </a:rPr>
                        <a:t>A04/A05</a:t>
                      </a:r>
                    </a:p>
                  </a:txBody>
                  <a:tcPr marL="73152" marT="18288" marB="18288">
                    <a:solidFill>
                      <a:srgbClr val="ECF1FA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772400" y="1737360"/>
            <a:ext cx="3886200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874519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4233B"/>
                </a:solidFill>
                <a:latin typeface="Calibri"/>
              </a:rPr>
              <a:t>Los 10 PoCs (todos 200 OK)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286000"/>
            <a:ext cx="34290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14233B"/>
                </a:solidFill>
                <a:latin typeface="Consolas"/>
              </a:rPr>
              <a:t>/actuator/prometheus  ·  /info  ·  /metrics  ·  /health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14233B"/>
                </a:solidFill>
                <a:latin typeface="Consolas"/>
              </a:rPr>
              <a:t>/proxy/carts/admin  ·  /proxy/carts/test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14233B"/>
                </a:solidFill>
                <a:latin typeface="Consolas"/>
              </a:rPr>
              <a:t>/proxy/catalog/../../actuator/{info,prometheus}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14233B"/>
                </a:solidFill>
                <a:latin typeface="Consolas"/>
              </a:rPr>
              <a:t>/proxy/orders/* y /proxy/checkout/* (backend)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4892040"/>
            <a:ext cx="3291840" cy="502920"/>
          </a:xfrm>
          <a:prstGeom prst="roundRect">
            <a:avLst>
              <a:gd name="adj" fmla="val 50000"/>
            </a:avLst>
          </a:prstGeom>
          <a:solidFill>
            <a:srgbClr val="D93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onsolas"/>
              </a:rPr>
              <a:t>0 bloqueados · ~53 KB filtrados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Calibri"/>
              </a:rPr>
              <a:t>TPE Tema 9 · Protección de Servicios con WAF · The Store · Grupo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37376"/>
            <a:ext cx="6400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B6B82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C7293"/>
                </a:solidFill>
                <a:latin typeface="Calibri"/>
              </a:rPr>
              <a:t>DISEÑO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14233B"/>
                </a:solidFill>
                <a:latin typeface="Trebuchet MS"/>
              </a:rPr>
              <a:t>La solución: un WAF en el Ingress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4233B"/>
                </a:solidFill>
                <a:latin typeface="Calibri"/>
              </a:rPr>
              <a:t>ModSecurity v3 + OWASP CRS dentro del ingress-nginx-controller. </a:t>
            </a:r>
            <a:r>
              <a:rPr sz="1500" b="1" i="0">
                <a:solidFill>
                  <a:srgbClr val="1C7293"/>
                </a:solidFill>
                <a:latin typeface="Calibri"/>
              </a:rPr>
              <a:t>Una sola política, todos los servicios. Cero cambios en el código.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260604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58952" y="2542032"/>
            <a:ext cx="640080" cy="6400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Trebuchet M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338328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4233B"/>
                </a:solidFill>
                <a:latin typeface="Trebuchet MS"/>
              </a:rPr>
              <a:t>ConfigMap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3886200"/>
            <a:ext cx="21488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82"/>
                </a:solidFill>
                <a:latin typeface="Calibri"/>
              </a:rPr>
              <a:t>Activa ModSec + CRS, motor SecRuleEngine On, audit log e Include de reglas.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10128" y="2286000"/>
            <a:ext cx="260604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566160" y="2542032"/>
            <a:ext cx="640080" cy="6400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Trebuchet M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338328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4233B"/>
                </a:solidFill>
                <a:latin typeface="Trebuchet MS"/>
              </a:rPr>
              <a:t>OWASP CRS (PL1)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3886200"/>
            <a:ext cx="21488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82"/>
                </a:solidFill>
                <a:latin typeface="Calibri"/>
              </a:rPr>
              <a:t>Cubre traversal, scanners e inyecciones genéricas (XSS 941, SQLi 942).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17336" y="2286000"/>
            <a:ext cx="260604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73368" y="2542032"/>
            <a:ext cx="640080" cy="6400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Trebuchet M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338328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4233B"/>
                </a:solidFill>
                <a:latin typeface="Trebuchet MS"/>
              </a:rPr>
              <a:t>Reglas custom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3886200"/>
            <a:ext cx="21488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82"/>
                </a:solidFill>
                <a:latin typeface="Calibri"/>
              </a:rPr>
              <a:t>99001-99020: Actuator, proxy traversal, rutas admin, scanners, whitelist.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24544" y="2286000"/>
            <a:ext cx="260604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80576" y="2542032"/>
            <a:ext cx="640080" cy="6400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Trebuchet M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0576" y="338328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4233B"/>
                </a:solidFill>
                <a:latin typeface="Trebuchet MS"/>
              </a:rPr>
              <a:t>Anotaciones Ingress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0576" y="3886200"/>
            <a:ext cx="21488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82"/>
                </a:solidFill>
                <a:latin typeface="Calibri"/>
              </a:rPr>
              <a:t>Rate limit por IP, 6 security headers (more_set_headers) y CSP Report-Only.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Calibri"/>
              </a:rPr>
              <a:t>TPE Tema 9 · Protección de Servicios con WAF · The Store · Grupo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37376"/>
            <a:ext cx="6400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B6B82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C7293"/>
                </a:solidFill>
                <a:latin typeface="Calibri"/>
              </a:rPr>
              <a:t>REGLAS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14233B"/>
                </a:solidFill>
                <a:latin typeface="Trebuchet MS"/>
              </a:rPr>
              <a:t>Defensa en profundidad: CRS + reglas propias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544068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4937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4233B"/>
                </a:solidFill>
                <a:latin typeface="Trebuchet MS"/>
              </a:rPr>
              <a:t>OWASP CRS  </a:t>
            </a:r>
            <a:r>
              <a:rPr sz="1300" b="0" i="1">
                <a:solidFill>
                  <a:srgbClr val="5B6B82"/>
                </a:solidFill>
                <a:latin typeface="Calibri"/>
              </a:rPr>
              <a:t>(lo genérico)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14600"/>
            <a:ext cx="49377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C7293"/>
                </a:solidFill>
                <a:latin typeface="Consolas"/>
              </a:rPr>
              <a:t>941xxx</a:t>
            </a:r>
            <a:r>
              <a:rPr sz="1350" b="0" i="0">
                <a:solidFill>
                  <a:srgbClr val="14233B"/>
                </a:solidFill>
                <a:latin typeface="Calibri"/>
              </a:rPr>
              <a:t>  XSS (libinjection + filtros)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C7293"/>
                </a:solidFill>
                <a:latin typeface="Consolas"/>
              </a:rPr>
              <a:t>942xxx</a:t>
            </a:r>
            <a:r>
              <a:rPr sz="1350" b="0" i="0">
                <a:solidFill>
                  <a:srgbClr val="14233B"/>
                </a:solidFill>
                <a:latin typeface="Calibri"/>
              </a:rPr>
              <a:t>  SQL injection en el checkout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C7293"/>
                </a:solidFill>
                <a:latin typeface="Consolas"/>
              </a:rPr>
              <a:t>930xxx</a:t>
            </a:r>
            <a:r>
              <a:rPr sz="1350" b="0" i="0">
                <a:solidFill>
                  <a:srgbClr val="14233B"/>
                </a:solidFill>
                <a:latin typeface="Calibri"/>
              </a:rPr>
              <a:t>  LFI / path traversal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C7293"/>
                </a:solidFill>
                <a:latin typeface="Consolas"/>
              </a:rPr>
              <a:t>913xxx</a:t>
            </a:r>
            <a:r>
              <a:rPr sz="1350" b="0" i="0">
                <a:solidFill>
                  <a:srgbClr val="14233B"/>
                </a:solidFill>
                <a:latin typeface="Calibri"/>
              </a:rPr>
              <a:t>  scanners conocidos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C7293"/>
                </a:solidFill>
                <a:latin typeface="Consolas"/>
              </a:rPr>
              <a:t>949110</a:t>
            </a:r>
            <a:r>
              <a:rPr sz="1350" b="0" i="0">
                <a:solidFill>
                  <a:srgbClr val="14233B"/>
                </a:solidFill>
                <a:latin typeface="Calibri"/>
              </a:rPr>
              <a:t>  anomaly score excedido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83080"/>
            <a:ext cx="5440680" cy="3657600"/>
          </a:xfrm>
          <a:prstGeom prst="roundRect">
            <a:avLst>
              <a:gd name="adj" fmla="val 6000"/>
            </a:avLst>
          </a:prstGeom>
          <a:solidFill>
            <a:srgbClr val="0E2148"/>
          </a:solidFill>
          <a:ln w="12700">
            <a:solidFill>
              <a:srgbClr val="0E21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937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Trebuchet MS"/>
              </a:rPr>
              <a:t>Reglas custom 99001-99020  </a:t>
            </a:r>
            <a:r>
              <a:rPr sz="1300" b="0" i="1">
                <a:solidFill>
                  <a:srgbClr val="F4A100"/>
                </a:solidFill>
                <a:latin typeface="Calibri"/>
              </a:rPr>
              <a:t>(lo propio)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514600"/>
            <a:ext cx="49377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F4A100"/>
                </a:solidFill>
                <a:latin typeface="Consolas"/>
              </a:rPr>
              <a:t>99001</a:t>
            </a:r>
            <a:r>
              <a:rPr sz="1350" b="0" i="0">
                <a:solidFill>
                  <a:srgbClr val="CADCFC"/>
                </a:solidFill>
                <a:latin typeface="Calibri"/>
              </a:rPr>
              <a:t>  Actuator sensible (preserva /health)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F4A100"/>
                </a:solidFill>
                <a:latin typeface="Consolas"/>
              </a:rPr>
              <a:t>99002</a:t>
            </a:r>
            <a:r>
              <a:rPr sz="1350" b="0" i="0">
                <a:solidFill>
                  <a:srgbClr val="CADCFC"/>
                </a:solidFill>
                <a:latin typeface="Calibri"/>
              </a:rPr>
              <a:t>  traversal .. / %2e%2e en /proxy/*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F4A100"/>
                </a:solidFill>
                <a:latin typeface="Consolas"/>
              </a:rPr>
              <a:t>99003</a:t>
            </a:r>
            <a:r>
              <a:rPr sz="1350" b="0" i="0">
                <a:solidFill>
                  <a:srgbClr val="CADCFC"/>
                </a:solidFill>
                <a:latin typeface="Calibri"/>
              </a:rPr>
              <a:t>  rutas admin de backend vía proxy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F4A100"/>
                </a:solidFill>
                <a:latin typeface="Consolas"/>
              </a:rPr>
              <a:t>99010</a:t>
            </a:r>
            <a:r>
              <a:rPr sz="1350" b="0" i="0">
                <a:solidFill>
                  <a:srgbClr val="CADCFC"/>
                </a:solidFill>
                <a:latin typeface="Calibri"/>
              </a:rPr>
              <a:t>  User-Agents de scanners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F4A100"/>
                </a:solidFill>
                <a:latin typeface="Consolas"/>
              </a:rPr>
              <a:t>99020</a:t>
            </a:r>
            <a:r>
              <a:rPr sz="1350" b="0" i="0">
                <a:solidFill>
                  <a:srgbClr val="CADCFC"/>
                </a:solidFill>
                <a:latin typeface="Calibri"/>
              </a:rPr>
              <a:t>  whitelist quirúrgica (FP 920350)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6235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4233B"/>
                </a:solidFill>
                <a:latin typeface="Calibri"/>
              </a:rPr>
              <a:t>XSS y SQLi NO necesitaron regla custom: los cubre el CRS base. </a:t>
            </a:r>
            <a:r>
              <a:rPr sz="1400" b="1" i="0">
                <a:solidFill>
                  <a:srgbClr val="1C7293"/>
                </a:solidFill>
                <a:latin typeface="Calibri"/>
              </a:rPr>
              <a:t>Custom sólo para la lógica específica de The Store.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Calibri"/>
              </a:rPr>
              <a:t>TPE Tema 9 · Protección de Servicios con WAF · The Store · Grupo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37376"/>
            <a:ext cx="6400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B6B82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C7293"/>
                </a:solidFill>
                <a:latin typeface="Calibri"/>
              </a:rPr>
              <a:t>ARQUITECTURA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14233B"/>
                </a:solidFill>
                <a:latin typeface="Trebuchet MS"/>
              </a:rPr>
              <a:t>Arquitectura de red y CIDRs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852160" cy="603504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0" bIns="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Host / loopback  ·  127.0.0.1:80,443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239572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B6B82"/>
                </a:solidFill>
                <a:latin typeface="Calibri"/>
              </a:rPr>
              <a:t>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70048"/>
            <a:ext cx="5852160" cy="603504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0" bIns="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Nodo Kind (Docker)  ·  172.18.0.0/16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323697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B6B82"/>
                </a:solidFill>
                <a:latin typeface="Calibri"/>
              </a:rPr>
              <a:t>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511296"/>
            <a:ext cx="5852160" cy="603504"/>
          </a:xfrm>
          <a:prstGeom prst="roundRect">
            <a:avLst>
              <a:gd name="adj" fmla="val 18000"/>
            </a:avLst>
          </a:prstGeom>
          <a:solidFill>
            <a:srgbClr val="F4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0" bIns="0"/>
          <a:lstStyle/>
          <a:p>
            <a:pPr algn="ctr"/>
            <a:r>
              <a:rPr sz="1350" b="1" i="0">
                <a:solidFill>
                  <a:srgbClr val="0E2148"/>
                </a:solidFill>
                <a:latin typeface="Calibri"/>
              </a:rPr>
              <a:t>ingress-nginx + ModSecurity v3 + CRS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407822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B6B82"/>
                </a:solidFill>
                <a:latin typeface="Calibri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52544"/>
            <a:ext cx="5852160" cy="603504"/>
          </a:xfrm>
          <a:prstGeom prst="roundRect">
            <a:avLst>
              <a:gd name="adj" fmla="val 18000"/>
            </a:avLst>
          </a:prstGeom>
          <a:solidFill>
            <a:srgbClr val="142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0" bIns="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ui : 80   (the-store)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49194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B6B82"/>
                </a:solidFill>
                <a:latin typeface="Calibri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193792"/>
            <a:ext cx="5852160" cy="603504"/>
          </a:xfrm>
          <a:prstGeom prst="roundRect">
            <a:avLst>
              <a:gd name="adj" fmla="val 18000"/>
            </a:avLst>
          </a:prstGeom>
          <a:solidFill>
            <a:srgbClr val="142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0" bIns="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catalog · carts · orders · checkout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0" y="1828800"/>
            <a:ext cx="4892040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0" y="196596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4233B"/>
                </a:solidFill>
                <a:latin typeface="Calibri"/>
              </a:rPr>
              <a:t>Direccionamiento (defaults de Kind)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2423160"/>
            <a:ext cx="43891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14233B"/>
                </a:solidFill>
                <a:latin typeface="Calibri"/>
              </a:rPr>
              <a:t>Host loopback  </a:t>
            </a:r>
            <a:r>
              <a:rPr sz="1300" b="1" i="0">
                <a:solidFill>
                  <a:srgbClr val="1C7293"/>
                </a:solidFill>
                <a:latin typeface="Consolas"/>
              </a:rPr>
              <a:t>127.0.0.1/32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14233B"/>
                </a:solidFill>
                <a:latin typeface="Calibri"/>
              </a:rPr>
              <a:t>Nodo Kind (bridge)  </a:t>
            </a:r>
            <a:r>
              <a:rPr sz="1300" b="1" i="0">
                <a:solidFill>
                  <a:srgbClr val="1C7293"/>
                </a:solidFill>
                <a:latin typeface="Consolas"/>
              </a:rPr>
              <a:t>172.18.0.0/16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14233B"/>
                </a:solidFill>
                <a:latin typeface="Calibri"/>
              </a:rPr>
              <a:t>Pods  </a:t>
            </a:r>
            <a:r>
              <a:rPr sz="1300" b="1" i="0">
                <a:solidFill>
                  <a:srgbClr val="1C7293"/>
                </a:solidFill>
                <a:latin typeface="Consolas"/>
              </a:rPr>
              <a:t>10.244.0.0/16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14233B"/>
                </a:solidFill>
                <a:latin typeface="Calibri"/>
              </a:rPr>
              <a:t>Services (ClusterIP)  </a:t>
            </a:r>
            <a:r>
              <a:rPr sz="1300" b="1" i="0">
                <a:solidFill>
                  <a:srgbClr val="1C7293"/>
                </a:solidFill>
                <a:latin typeface="Consolas"/>
              </a:rPr>
              <a:t>10.96.0.0/12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14233B"/>
                </a:solidFill>
                <a:latin typeface="Calibri"/>
              </a:rPr>
              <a:t>CoreDNS  </a:t>
            </a:r>
            <a:r>
              <a:rPr sz="1300" b="1" i="0">
                <a:solidFill>
                  <a:srgbClr val="1C7293"/>
                </a:solidFill>
                <a:latin typeface="Consolas"/>
              </a:rPr>
              <a:t>10.96.0.10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5074920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B6B82"/>
                </a:solidFill>
                <a:latin typeface="Calibri"/>
              </a:rPr>
              <a:t>El WAF intercepta el tráfico norte-sur en el único punto de entrada.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Calibri"/>
              </a:rPr>
              <a:t>TPE Tema 9 · Protección de Servicios con WAF · The Store · Grupo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37376"/>
            <a:ext cx="6400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B6B82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C7293"/>
                </a:solidFill>
                <a:latin typeface="Calibri"/>
              </a:rPr>
              <a:t>DEMO EN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14233B"/>
                </a:solidFill>
                <a:latin typeface="Trebuchet MS"/>
              </a:rPr>
              <a:t>Antes / después: los 5 casos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B6B82"/>
                </a:solidFill>
                <a:latin typeface="Calibri"/>
              </a:rPr>
              <a:t>Caso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73736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D93A3E"/>
                </a:solidFill>
                <a:latin typeface="Calibri"/>
              </a:rPr>
              <a:t>Pre-WAF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173736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FAE66"/>
                </a:solidFill>
                <a:latin typeface="Calibri"/>
              </a:rPr>
              <a:t>Post-WAF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04120" y="173736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B6B82"/>
                </a:solidFill>
                <a:latin typeface="Calibri"/>
              </a:rPr>
              <a:t>Bloquea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94560"/>
            <a:ext cx="1115568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94560"/>
            <a:ext cx="5394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4233B"/>
                </a:solidFill>
                <a:latin typeface="Consolas"/>
              </a:rPr>
              <a:t>GET /actuator/prometheus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313432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FB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50" b="1" i="0">
                <a:solidFill>
                  <a:srgbClr val="D93A3E"/>
                </a:solidFill>
                <a:latin typeface="Consolas"/>
              </a:rPr>
              <a:t>200 · 19 KB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75320" y="2313432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E3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50" b="1" i="0">
                <a:solidFill>
                  <a:srgbClr val="2FAE66"/>
                </a:solidFill>
                <a:latin typeface="Consolas"/>
              </a:rPr>
              <a:t>403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2194560"/>
            <a:ext cx="1600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Consolas"/>
              </a:rPr>
              <a:t>custom 99001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980944"/>
            <a:ext cx="11155680" cy="658368"/>
          </a:xfrm>
          <a:prstGeom prst="roundRect">
            <a:avLst>
              <a:gd name="adj" fmla="val 6000"/>
            </a:avLst>
          </a:prstGeom>
          <a:solidFill>
            <a:srgbClr val="ECF1FA"/>
          </a:solidFill>
          <a:ln w="12700">
            <a:solidFill>
              <a:srgbClr val="D9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980944"/>
            <a:ext cx="5394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4233B"/>
                </a:solidFill>
                <a:latin typeface="Consolas"/>
              </a:rPr>
              <a:t>Traversal /proxy/catalog/../../actuator/info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3099816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FB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50" b="1" i="0">
                <a:solidFill>
                  <a:srgbClr val="D93A3E"/>
                </a:solidFill>
                <a:latin typeface="Consolas"/>
              </a:rPr>
              <a:t>200 OK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75320" y="3099816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E3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50" b="1" i="0">
                <a:solidFill>
                  <a:srgbClr val="2FAE66"/>
                </a:solidFill>
                <a:latin typeface="Consolas"/>
              </a:rPr>
              <a:t>403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2980944"/>
            <a:ext cx="1600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Consolas"/>
              </a:rPr>
              <a:t>custom 99002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767328"/>
            <a:ext cx="1115568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767328"/>
            <a:ext cx="5394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4233B"/>
                </a:solidFill>
                <a:latin typeface="Consolas"/>
              </a:rPr>
              <a:t>User-Agent: Nikto / sqlmap / nuclei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3886200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FB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50" b="1" i="0">
                <a:solidFill>
                  <a:srgbClr val="D93A3E"/>
                </a:solidFill>
                <a:latin typeface="Consolas"/>
              </a:rPr>
              <a:t>200 OK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75320" y="3886200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E3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50" b="1" i="0">
                <a:solidFill>
                  <a:srgbClr val="2FAE66"/>
                </a:solidFill>
                <a:latin typeface="Consolas"/>
              </a:rPr>
              <a:t>403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3767328"/>
            <a:ext cx="1600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Consolas"/>
              </a:rPr>
              <a:t>custom 99010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553712"/>
            <a:ext cx="11155680" cy="658368"/>
          </a:xfrm>
          <a:prstGeom prst="roundRect">
            <a:avLst>
              <a:gd name="adj" fmla="val 6000"/>
            </a:avLst>
          </a:prstGeom>
          <a:solidFill>
            <a:srgbClr val="ECF1FA"/>
          </a:solidFill>
          <a:ln w="12700">
            <a:solidFill>
              <a:srgbClr val="D9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553712"/>
            <a:ext cx="5394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4233B"/>
                </a:solidFill>
                <a:latin typeface="Consolas"/>
              </a:rPr>
              <a:t>Burst de 100 requests concurrentes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5080" y="4672584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FB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50" b="1" i="0">
                <a:solidFill>
                  <a:srgbClr val="D93A3E"/>
                </a:solidFill>
                <a:latin typeface="Consolas"/>
              </a:rPr>
              <a:t>100×200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75320" y="4672584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E3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50" b="1" i="0">
                <a:solidFill>
                  <a:srgbClr val="2FAE66"/>
                </a:solidFill>
                <a:latin typeface="Consolas"/>
              </a:rPr>
              <a:t>23×429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4553712"/>
            <a:ext cx="1600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Consolas"/>
              </a:rPr>
              <a:t>nginx limit_req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340096"/>
            <a:ext cx="1115568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340096"/>
            <a:ext cx="5394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4233B"/>
                </a:solidFill>
                <a:latin typeface="Consolas"/>
              </a:rPr>
              <a:t>Headers de seguridad en la home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55080" y="545896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FB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50" b="1" i="0">
                <a:solidFill>
                  <a:srgbClr val="D93A3E"/>
                </a:solidFill>
                <a:latin typeface="Consolas"/>
              </a:rPr>
              <a:t>0 / 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75320" y="545896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E3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50" b="1" i="0">
                <a:solidFill>
                  <a:srgbClr val="2FAE66"/>
                </a:solidFill>
                <a:latin typeface="Consolas"/>
              </a:rPr>
              <a:t>6 / 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5340096"/>
            <a:ext cx="1600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Consolas"/>
              </a:rPr>
              <a:t>more_set_headers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Calibri"/>
              </a:rPr>
              <a:t>TPE Tema 9 · Protección de Servicios con WAF · The Store · Grupo 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437376"/>
            <a:ext cx="6400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B6B82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C7293"/>
                </a:solidFill>
                <a:latin typeface="Calibri"/>
              </a:rPr>
              <a:t>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14233B"/>
                </a:solidFill>
                <a:latin typeface="Trebuchet MS"/>
              </a:rPr>
              <a:t>23/23 y la prueba en el audit log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828800"/>
            <a:ext cx="3657600" cy="3749039"/>
          </a:xfrm>
          <a:prstGeom prst="roundRect">
            <a:avLst>
              <a:gd name="adj" fmla="val 6000"/>
            </a:avLst>
          </a:prstGeom>
          <a:solidFill>
            <a:srgbClr val="0E2148"/>
          </a:solidFill>
          <a:ln w="12700">
            <a:solidFill>
              <a:srgbClr val="0E21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240280"/>
            <a:ext cx="32918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000" b="1" i="0">
                <a:solidFill>
                  <a:srgbClr val="2FAE66"/>
                </a:solidFill>
                <a:latin typeface="Trebuchet MS"/>
              </a:rPr>
              <a:t>23/23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29000"/>
            <a:ext cx="3291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tests post-WAF en verde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1">
                <a:solidFill>
                  <a:srgbClr val="CADCFC"/>
                </a:solidFill>
                <a:latin typeface="Calibri"/>
              </a:rPr>
              <a:t>suite automatizada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1">
                <a:solidFill>
                  <a:srgbClr val="F4A100"/>
                </a:solidFill>
                <a:latin typeface="Calibri"/>
              </a:rPr>
              <a:t>La home y /actuator/health siguen en 200: no rompimos los probes de K8s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828800"/>
            <a:ext cx="7223760" cy="37490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1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1965960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4233B"/>
                </a:solidFill>
                <a:latin typeface="Trebuchet MS"/>
              </a:rPr>
              <a:t>El audit log demuestra quién bloqueó qué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2468880"/>
            <a:ext cx="6766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C7293"/>
                </a:solidFill>
                <a:latin typeface="Consolas"/>
              </a:rPr>
              <a:t>Custom 99001   </a:t>
            </a:r>
            <a:r>
              <a:rPr sz="1250" b="0" i="0">
                <a:solidFill>
                  <a:srgbClr val="14233B"/>
                </a:solidFill>
                <a:latin typeface="Calibri"/>
              </a:rPr>
              <a:t>/actuator/{info,metrics,prometheus,env}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C7293"/>
                </a:solidFill>
                <a:latin typeface="Consolas"/>
              </a:rPr>
              <a:t>Custom 99002   </a:t>
            </a:r>
            <a:r>
              <a:rPr sz="1250" b="0" i="0">
                <a:solidFill>
                  <a:srgbClr val="14233B"/>
                </a:solidFill>
                <a:latin typeface="Calibri"/>
              </a:rPr>
              <a:t>traversal .. / %2e%2e en /proxy/*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C7293"/>
                </a:solidFill>
                <a:latin typeface="Consolas"/>
              </a:rPr>
              <a:t>Custom 99010   </a:t>
            </a:r>
            <a:r>
              <a:rPr sz="1250" b="0" i="0">
                <a:solidFill>
                  <a:srgbClr val="14233B"/>
                </a:solidFill>
                <a:latin typeface="Calibri"/>
              </a:rPr>
              <a:t>User-Agents sqlmap / nikto / nuclei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F4A100"/>
                </a:solidFill>
                <a:latin typeface="Consolas"/>
              </a:rPr>
              <a:t>CRS 941xxx   </a:t>
            </a:r>
            <a:r>
              <a:rPr sz="1250" b="0" i="0">
                <a:solidFill>
                  <a:srgbClr val="14233B"/>
                </a:solidFill>
                <a:latin typeface="Calibri"/>
              </a:rPr>
              <a:t>XSS en el checkout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F4A100"/>
                </a:solidFill>
                <a:latin typeface="Consolas"/>
              </a:rPr>
              <a:t>CRS 942xxx   </a:t>
            </a:r>
            <a:r>
              <a:rPr sz="1250" b="0" i="0">
                <a:solidFill>
                  <a:srgbClr val="14233B"/>
                </a:solidFill>
                <a:latin typeface="Calibri"/>
              </a:rPr>
              <a:t>SQL injection en el checkout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F4A100"/>
                </a:solidFill>
                <a:latin typeface="Consolas"/>
              </a:rPr>
              <a:t>CRS 949110   </a:t>
            </a:r>
            <a:r>
              <a:rPr sz="1250" b="0" i="0">
                <a:solidFill>
                  <a:srgbClr val="14233B"/>
                </a:solidFill>
                <a:latin typeface="Calibri"/>
              </a:rPr>
              <a:t>anomaly score excedido (defensa por scoring)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Calibri"/>
              </a:rPr>
              <a:t>TPE Tema 9 · Protección de Servicios con WAF · The Store · Grupo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37376"/>
            <a:ext cx="6400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B6B82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C7293"/>
                </a:solidFill>
                <a:latin typeface="Calibri"/>
              </a:rPr>
              <a:t>HONESTIDAD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14233B"/>
                </a:solidFill>
                <a:latin typeface="Trebuchet MS"/>
              </a:rPr>
              <a:t>Limitaciones y trabajo futuro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69494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450" b="0" i="0">
                <a:solidFill>
                  <a:srgbClr val="14233B"/>
                </a:solidFill>
                <a:latin typeface="Calibri"/>
              </a:rPr>
              <a:t>Un WAF no reemplaza código seguro: es defensa en profundidad, no una bala de plata.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450" b="0" i="0">
                <a:solidFill>
                  <a:srgbClr val="14233B"/>
                </a:solidFill>
                <a:latin typeface="Calibri"/>
              </a:rPr>
              <a:t>Sólo cubre el tráfico norte-sur; el este-oeste entre pods no pasa por el Ingress.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450" b="0" i="0">
                <a:solidFill>
                  <a:srgbClr val="14233B"/>
                </a:solidFill>
                <a:latin typeface="Calibri"/>
              </a:rPr>
              <a:t>Bypass por encoding (doble URL-encode, Unicode) es un campo activo de evasión.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450" b="0" i="0">
                <a:solidFill>
                  <a:srgbClr val="14233B"/>
                </a:solidFill>
                <a:latin typeface="Calibri"/>
              </a:rPr>
              <a:t>Falsos positivos a Paranoia Levels altos: quedamos en PL1 para la demo.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450" b="0" i="0">
                <a:solidFill>
                  <a:srgbClr val="14233B"/>
                </a:solidFill>
                <a:latin typeface="Calibri"/>
              </a:rPr>
              <a:t>CSP en modo Report-Only: observa, todavía no bloquea.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450" b="0" i="0">
                <a:solidFill>
                  <a:srgbClr val="14233B"/>
                </a:solidFill>
                <a:latin typeface="Calibri"/>
              </a:rPr>
              <a:t>Ataques de lógica de negocio no los detecta un WAF de reglas.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0" y="1783080"/>
            <a:ext cx="3977639" cy="3840480"/>
          </a:xfrm>
          <a:prstGeom prst="roundRect">
            <a:avLst>
              <a:gd name="adj" fmla="val 6000"/>
            </a:avLst>
          </a:prstGeom>
          <a:solidFill>
            <a:srgbClr val="0E2148"/>
          </a:solidFill>
          <a:ln w="12700">
            <a:solidFill>
              <a:srgbClr val="0E21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79" y="201168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4A100"/>
                </a:solidFill>
                <a:latin typeface="Trebuchet MS"/>
              </a:rPr>
              <a:t>Trabajo futuro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2606040"/>
            <a:ext cx="3520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 i="0">
                <a:solidFill>
                  <a:srgbClr val="CADCFC"/>
                </a:solidFill>
                <a:latin typeface="Calibri"/>
              </a:rPr>
              <a:t>Subir a Paranoia Level 2 con tuning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 i="0">
                <a:solidFill>
                  <a:srgbClr val="CADCFC"/>
                </a:solidFill>
                <a:latin typeface="Calibri"/>
              </a:rPr>
              <a:t>Evaluar Coraza (CRS en Go)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 i="0">
                <a:solidFill>
                  <a:srgbClr val="CADCFC"/>
                </a:solidFill>
                <a:latin typeface="Calibri"/>
              </a:rPr>
              <a:t>NetworkPolicies para el este-oeste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 i="0">
                <a:solidFill>
                  <a:srgbClr val="CADCFC"/>
                </a:solidFill>
                <a:latin typeface="Calibri"/>
              </a:rPr>
              <a:t>Enforcement real de la CSP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Calibri"/>
              </a:rPr>
              <a:t>TPE Tema 9 · Protección de Servicios con WAF · The Store · Grupo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37376"/>
            <a:ext cx="6400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B6B82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1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4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4A100"/>
                </a:solidFill>
                <a:latin typeface="Calibri"/>
              </a:rPr>
              <a:t>CONCLUSIÓN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2588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Trebuchet MS"/>
              </a:rPr>
              <a:t>10 vectores mitigados, 0 cambios en los microservicios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 i="0">
                <a:solidFill>
                  <a:srgbClr val="F4A100"/>
                </a:solidFill>
                <a:latin typeface="Calibri"/>
              </a:rPr>
              <a:t>›  </a:t>
            </a:r>
            <a:r>
              <a:rPr sz="1500" b="0" i="0">
                <a:solidFill>
                  <a:srgbClr val="CADCFC"/>
                </a:solidFill>
                <a:latin typeface="Calibri"/>
              </a:rPr>
              <a:t>ModSecurity + CRS en el Ingress, con reglas custom sólo para la lógica de The Store.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 i="0">
                <a:solidFill>
                  <a:srgbClr val="F4A100"/>
                </a:solidFill>
                <a:latin typeface="Calibri"/>
              </a:rPr>
              <a:t>›  </a:t>
            </a:r>
            <a:r>
              <a:rPr sz="1500" b="0" i="0">
                <a:solidFill>
                  <a:srgbClr val="CADCFC"/>
                </a:solidFill>
                <a:latin typeface="Calibri"/>
              </a:rPr>
              <a:t>El CRS resolvió XSS/SQLi sin una línea custom; 5 reglas propias cubrieron el resto.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 i="0">
                <a:solidFill>
                  <a:srgbClr val="F4A100"/>
                </a:solidFill>
                <a:latin typeface="Calibri"/>
              </a:rPr>
              <a:t>›  </a:t>
            </a:r>
            <a:r>
              <a:rPr sz="1500" b="0" i="0">
                <a:solidFill>
                  <a:srgbClr val="CADCFC"/>
                </a:solidFill>
                <a:latin typeface="Calibri"/>
              </a:rPr>
              <a:t>Todo declarativo, idempotente y reversible; integrado en local.sh y reproducible (HOWTO).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 i="0">
                <a:solidFill>
                  <a:srgbClr val="F4A100"/>
                </a:solidFill>
                <a:latin typeface="Calibri"/>
              </a:rPr>
              <a:t>›  </a:t>
            </a:r>
            <a:r>
              <a:rPr sz="1500" b="0" i="0">
                <a:solidFill>
                  <a:srgbClr val="CADCFC"/>
                </a:solidFill>
                <a:latin typeface="Calibri"/>
              </a:rPr>
              <a:t>23/23 tests post-WAF; la app legítima sigue intacta.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5074920"/>
            <a:ext cx="10515600" cy="914400"/>
          </a:xfrm>
          <a:prstGeom prst="roundRect">
            <a:avLst>
              <a:gd name="adj" fmla="val 12000"/>
            </a:avLst>
          </a:prstGeom>
          <a:solidFill>
            <a:srgbClr val="142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5230368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1">
                <a:solidFill>
                  <a:srgbClr val="FFFFFF"/>
                </a:solidFill>
                <a:latin typeface="Calibri"/>
              </a:rPr>
              <a:t>El aprendizaje real no fue escribir reglas, sino operar el WAF: el tuning es donde se juega que sea útil.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82"/>
                </a:solidFill>
                <a:latin typeface="Consolas"/>
              </a:rPr>
              <a:t>github.com/maurovella/g2-WAF-the-store-ITBA  ·  rama feat/waf-modsecurity  ·  ¡Gracias!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