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1. Presentar el equipo y el objetivo: proteger The Store con un WAF en el punto de entrada, sin tocar el código de los microservicios. Adelantar el hilo: auditamos, diseñamos, implementamos, medimos.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1. Explicar la topología: única puerta de entrada, backends internos. El problema es transversal a 3 lenguajes; por eso un WAF en el ingress es la mejor relación costo/beneficio.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1. 10 vectores agrupados en 6 clases. Destacar los críticos: SSRF/traversal por el ProxyController y Actuator expuesto. Todos respondían 200 OK antes del WAF.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2. La clave del diseño: el WAF va embebido en el ingress que ya existe; la imagen oficial trae libmodsecurity y el CRS. Cuatro piezas declarativas. No tocamos los microservicios.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2. Mostrar el reparto de trabajo entre el CRS y las reglas propias. Es el corazón del diseño: el CRS resuelve ataques genéricos; nosotros sólo escribimos reglas para lo que es propio de la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2. Recorrer el camino de un request desde el host hasta los backends. El WAF se inserta en el ingress (norte-sur). El este-oeste entre pods no pasa por el WAF: lo retomamos en limitaciones.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3. Este es el momento de la demo en vivo: correr install-waf y mostrar cada caso pasar de 200 a 403/429. Si la demo falla, esta tabla es el respaldo. Mostrar también que / y /actuator/health siguen en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3. El resultado duro: 23/23. El audit log de ModSecurity prueba la defensa en profundidad: reglas propias + CRS actuando juntos. Mostrar una entrada real con kubectl exec ... tail si hay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3. La cátedra suele preguntar limitaciones en la defensa oral; adelantarse muestra dominio. Recalcar el este-oeste y que el WAF no arregla el código de fondo.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(los 3). Recapitular el criterio de éxito cumplido y abrir a preguntas. Tener listo el audit log y la terminal por si piden ver algo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4A100"/>
                </a:solidFill>
                <a:latin typeface="Calibri"/>
              </a:rPr>
              <a:t>WEB APPLICATION FIREWALL · ITBA · REDES 1C2026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Protección de servicios con un WAF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para The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ModSecurity v3  +  OWASP Core Rule Set  +  reglas custom, sobre ingress-nginx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7680960" cy="960120"/>
          </a:xfrm>
          <a:prstGeom prst="roundRect">
            <a:avLst>
              <a:gd name="adj" fmla="val 8000"/>
            </a:avLst>
          </a:prstGeom>
          <a:solidFill>
            <a:srgbClr val="14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onsolas"/>
              </a:rPr>
              <a:t>$ curl http://localhost/actuator/prometheus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Consolas"/>
              </a:rPr>
              <a:t>  pre-WAF  200 OK  (19 KB filtrados)      post-WAF  </a:t>
            </a:r>
            <a:r>
              <a:rPr sz="1250" b="1" i="0">
                <a:solidFill>
                  <a:srgbClr val="2FAE66"/>
                </a:solidFill>
                <a:latin typeface="Consolas"/>
              </a:rPr>
              <a:t>403 Forbidden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4A100"/>
                </a:solidFill>
                <a:latin typeface="Calibri"/>
              </a:rPr>
              <a:t>Grupo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Mauro Vella  ·  Enrique Castillo (68321)  ·  Federico Inti García Lauberer (61374)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CONTEXTO Y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The Store: 5 microservicios, 1 puerta, 0 defensas L7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400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4233B"/>
                </a:solidFill>
                <a:latin typeface="Calibri"/>
              </a:rPr>
              <a:t>Una app e-commerce sobre Kind/Kubernetes: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4233B"/>
                </a:solidFill>
                <a:latin typeface="Calibri"/>
              </a:rPr>
              <a:t>ui (Java/Spring) publica la UI; catalog (Go), carts, orders (Java) y checkout (Node) son ClusterIP internos.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4233B"/>
                </a:solidFill>
                <a:latin typeface="Calibri"/>
              </a:rPr>
              <a:t>Toda la entrada externa pasa por un único punto: ingress-nginx en el puerto 80/443 del host.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4233B"/>
                </a:solidFill>
                <a:latin typeface="Calibri"/>
              </a:rPr>
              <a:t>Sin rate limiting, sin scanner detection, sin headers de seguridad.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4233B"/>
                </a:solidFill>
                <a:latin typeface="Calibri"/>
              </a:rPr>
              <a:t>Arreglar en Java + Go + Node por separado = cambios distribuidos en 3 lenguajes.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Un WAF aplica una política única en el borde, sin tocar el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297680" cy="3383280"/>
          </a:xfrm>
          <a:prstGeom prst="roundRect">
            <a:avLst>
              <a:gd name="adj" fmla="val 6000"/>
            </a:avLst>
          </a:prstGeom>
          <a:solidFill>
            <a:srgbClr val="0E2148"/>
          </a:solidFill>
          <a:ln w="12700">
            <a:solidFill>
              <a:srgbClr val="0E2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14884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 i="0">
                <a:solidFill>
                  <a:srgbClr val="F4A100"/>
                </a:solidFill>
                <a:latin typeface="Trebuchet M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429000"/>
            <a:ext cx="37490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vectores explotables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sin autenticación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confirmados en la auditoría pre-WAF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AUDITORÍA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10 hallazgos de la auditoría (6 clases)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704087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3977639"/>
                <a:gridCol w="1234440"/>
                <a:gridCol w="10515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T="27432" marB="27432">
                    <a:solidFill>
                      <a:srgbClr val="0E21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Clase de hallazgo</a:t>
                      </a:r>
                    </a:p>
                  </a:txBody>
                  <a:tcPr marL="73152" marT="27432" marB="27432">
                    <a:solidFill>
                      <a:srgbClr val="0E21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Sev.</a:t>
                      </a:r>
                    </a:p>
                  </a:txBody>
                  <a:tcPr marL="73152" marT="27432" marB="27432">
                    <a:solidFill>
                      <a:srgbClr val="0E21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OWASP</a:t>
                      </a:r>
                    </a:p>
                  </a:txBody>
                  <a:tcPr marL="73152" marT="27432" marB="27432">
                    <a:solidFill>
                      <a:srgbClr val="0E21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7293"/>
                          </a:solidFill>
                          <a:latin typeface="Consolas"/>
                        </a:rPr>
                        <a:t>H1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SSRF + path traversal vía /proxy/**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Crítica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A03/A10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7293"/>
                          </a:solidFill>
                          <a:latin typeface="Consolas"/>
                        </a:rPr>
                        <a:t>H2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Inyecciones en checkout (XSS/SQLi/CRLF)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A03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7293"/>
                          </a:solidFill>
                          <a:latin typeface="Consolas"/>
                        </a:rPr>
                        <a:t>H3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Chat sin validación / prompt injection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A04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7293"/>
                          </a:solidFill>
                          <a:latin typeface="Consolas"/>
                        </a:rPr>
                        <a:t>H4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Spring Actuator expuesto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A05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7293"/>
                          </a:solidFill>
                          <a:latin typeface="Consolas"/>
                        </a:rPr>
                        <a:t>H5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Confianza en X-Forwarded-*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A07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7293"/>
                          </a:solidFill>
                          <a:latin typeface="Consolas"/>
                        </a:rPr>
                        <a:t>H6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Sin rate limit / scanners / headers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4233B"/>
                          </a:solidFill>
                          <a:latin typeface="Calibri"/>
                        </a:rPr>
                        <a:t>A04/A05</a:t>
                      </a:r>
                    </a:p>
                  </a:txBody>
                  <a:tcPr marL="73152" marT="18288" marB="18288">
                    <a:solidFill>
                      <a:srgbClr val="ECF1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737360"/>
            <a:ext cx="38862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7451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233B"/>
                </a:solidFill>
                <a:latin typeface="Calibri"/>
              </a:rPr>
              <a:t>Los 10 PoCs (todos 200 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429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4233B"/>
                </a:solidFill>
                <a:latin typeface="Consolas"/>
              </a:rPr>
              <a:t>/actuator/prometheus  ·  /info  ·  /metrics  ·  /health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4233B"/>
                </a:solidFill>
                <a:latin typeface="Consolas"/>
              </a:rPr>
              <a:t>/proxy/carts/admin  ·  /proxy/carts/test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4233B"/>
                </a:solidFill>
                <a:latin typeface="Consolas"/>
              </a:rPr>
              <a:t>/proxy/catalog/../../actuator/{info,prometheus}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4233B"/>
                </a:solidFill>
                <a:latin typeface="Consolas"/>
              </a:rPr>
              <a:t>/proxy/orders/* y /proxy/checkout/* (backend)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892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D9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0 bloqueados · ~53 KB filtrados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La solución: un WAF en el Ingress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33B"/>
                </a:solidFill>
                <a:latin typeface="Calibri"/>
              </a:rPr>
              <a:t>ModSecurity v3 + OWASP CRS dentro del ingress-nginx-controller. </a:t>
            </a:r>
            <a:r>
              <a:rPr sz="1500" b="1" i="0">
                <a:solidFill>
                  <a:srgbClr val="1C7293"/>
                </a:solidFill>
                <a:latin typeface="Calibri"/>
              </a:rPr>
              <a:t>Una sola política, todos los servicios. Cero cambios en el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254203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832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4233B"/>
                </a:solidFill>
                <a:latin typeface="Trebuchet MS"/>
              </a:rPr>
              <a:t>ConfigMap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8862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Calibri"/>
              </a:rPr>
              <a:t>Activa ModSec + CRS, motor SecRuleEngine On, audit log e Include de reglas.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54203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4233B"/>
                </a:solidFill>
                <a:latin typeface="Trebuchet MS"/>
              </a:rPr>
              <a:t>OWASP CRS (PL1)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862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Calibri"/>
              </a:rPr>
              <a:t>Cubre traversal, scanners e inyecciones genéricas (XSS 941, SQLi 942).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73368" y="254203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3832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4233B"/>
                </a:solidFill>
                <a:latin typeface="Trebuchet MS"/>
              </a:rPr>
              <a:t>Reglas 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8862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Calibri"/>
              </a:rPr>
              <a:t>99001-99020: Actuator, proxy traversal, rutas admin, scanners, whitelist.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80576" y="254203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3832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4233B"/>
                </a:solidFill>
                <a:latin typeface="Trebuchet MS"/>
              </a:rPr>
              <a:t>Anotaciones Ingress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8862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Calibri"/>
              </a:rPr>
              <a:t>Rate limit por IP, 6 security headers (more_set_headers) y CSP Report-Only.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Defensa en profundidad: CRS + reglas propias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233B"/>
                </a:solidFill>
                <a:latin typeface="Trebuchet MS"/>
              </a:rPr>
              <a:t>OWASP CRS  </a:t>
            </a:r>
            <a:r>
              <a:rPr sz="1300" b="0" i="1">
                <a:solidFill>
                  <a:srgbClr val="5B6B82"/>
                </a:solidFill>
                <a:latin typeface="Calibri"/>
              </a:rPr>
              <a:t>(lo genérico)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7293"/>
                </a:solidFill>
                <a:latin typeface="Consolas"/>
              </a:rPr>
              <a:t>941xxx</a:t>
            </a:r>
            <a:r>
              <a:rPr sz="1350" b="0" i="0">
                <a:solidFill>
                  <a:srgbClr val="14233B"/>
                </a:solidFill>
                <a:latin typeface="Calibri"/>
              </a:rPr>
              <a:t>  XSS (libinjection + filtros)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7293"/>
                </a:solidFill>
                <a:latin typeface="Consolas"/>
              </a:rPr>
              <a:t>942xxx</a:t>
            </a:r>
            <a:r>
              <a:rPr sz="1350" b="0" i="0">
                <a:solidFill>
                  <a:srgbClr val="14233B"/>
                </a:solidFill>
                <a:latin typeface="Calibri"/>
              </a:rPr>
              <a:t>  SQL injection en el checkout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7293"/>
                </a:solidFill>
                <a:latin typeface="Consolas"/>
              </a:rPr>
              <a:t>930xxx</a:t>
            </a:r>
            <a:r>
              <a:rPr sz="1350" b="0" i="0">
                <a:solidFill>
                  <a:srgbClr val="14233B"/>
                </a:solidFill>
                <a:latin typeface="Calibri"/>
              </a:rPr>
              <a:t>  LFI / path traversal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7293"/>
                </a:solidFill>
                <a:latin typeface="Consolas"/>
              </a:rPr>
              <a:t>913xxx</a:t>
            </a:r>
            <a:r>
              <a:rPr sz="1350" b="0" i="0">
                <a:solidFill>
                  <a:srgbClr val="14233B"/>
                </a:solidFill>
                <a:latin typeface="Calibri"/>
              </a:rPr>
              <a:t>  scanners conocidos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7293"/>
                </a:solidFill>
                <a:latin typeface="Consolas"/>
              </a:rPr>
              <a:t>949110</a:t>
            </a:r>
            <a:r>
              <a:rPr sz="1350" b="0" i="0">
                <a:solidFill>
                  <a:srgbClr val="14233B"/>
                </a:solidFill>
                <a:latin typeface="Calibri"/>
              </a:rPr>
              <a:t>  anomaly score excedido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0E2148"/>
          </a:solidFill>
          <a:ln w="12700">
            <a:solidFill>
              <a:srgbClr val="0E2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Reglas custom 99001-99020  </a:t>
            </a:r>
            <a:r>
              <a:rPr sz="1300" b="0" i="1">
                <a:solidFill>
                  <a:srgbClr val="F4A100"/>
                </a:solidFill>
                <a:latin typeface="Calibri"/>
              </a:rPr>
              <a:t>(lo propio)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4A100"/>
                </a:solidFill>
                <a:latin typeface="Consolas"/>
              </a:rPr>
              <a:t>99001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 Actuator + índice (preserva /health)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4A100"/>
                </a:solidFill>
                <a:latin typeface="Consolas"/>
              </a:rPr>
              <a:t>99002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 traversal .. / %2e%2e en /proxy/*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4A100"/>
                </a:solidFill>
                <a:latin typeface="Consolas"/>
              </a:rPr>
              <a:t>99003-5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 rutas admin + /proxy/* sin sesión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4A100"/>
                </a:solidFill>
                <a:latin typeface="Consolas"/>
              </a:rPr>
              <a:t>99010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 User-Agents de scanners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4A100"/>
                </a:solidFill>
                <a:latin typeface="Consolas"/>
              </a:rPr>
              <a:t>99020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 whitelist quirúrgica (FP 920350)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233B"/>
                </a:solidFill>
                <a:latin typeface="Calibri"/>
              </a:rPr>
              <a:t>XSS y SQLi NO necesitaron regla custom: los cubre el CRS base. </a:t>
            </a:r>
            <a:r>
              <a:rPr sz="1400" b="1" i="0">
                <a:solidFill>
                  <a:srgbClr val="1C7293"/>
                </a:solidFill>
                <a:latin typeface="Calibri"/>
              </a:rPr>
              <a:t>Custom sólo para la lógica específica de The 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Arquitectura de red y CIDRs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852160" cy="603504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Host / loopback  ·  127.0.0.1:80,443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95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B82"/>
                </a:solidFill>
                <a:latin typeface="Calibri"/>
              </a:rP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70048"/>
            <a:ext cx="5852160" cy="603504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Nodo Kind (Docker)  ·  172.18.0.0/16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36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B82"/>
                </a:solidFill>
                <a:latin typeface="Calibr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11296"/>
            <a:ext cx="5852160" cy="603504"/>
          </a:xfrm>
          <a:prstGeom prst="roundRect">
            <a:avLst>
              <a:gd name="adj" fmla="val 18000"/>
            </a:avLst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350" b="1" i="0">
                <a:solidFill>
                  <a:srgbClr val="0E2148"/>
                </a:solidFill>
                <a:latin typeface="Calibri"/>
              </a:rPr>
              <a:t>ingress-nginx + ModSecurity v3 + CRS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0782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B82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52544"/>
            <a:ext cx="5852160" cy="603504"/>
          </a:xfrm>
          <a:prstGeom prst="roundRect">
            <a:avLst>
              <a:gd name="adj" fmla="val 18000"/>
            </a:avLst>
          </a:prstGeom>
          <a:solidFill>
            <a:srgbClr val="14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ui : 80   (the-store)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9194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B82"/>
                </a:solidFill>
                <a:latin typeface="Calibr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93792"/>
            <a:ext cx="5852160" cy="603504"/>
          </a:xfrm>
          <a:prstGeom prst="roundRect">
            <a:avLst>
              <a:gd name="adj" fmla="val 18000"/>
            </a:avLst>
          </a:prstGeom>
          <a:solidFill>
            <a:srgbClr val="14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catalog · carts · orders · checkout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828800"/>
            <a:ext cx="48920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33B"/>
                </a:solidFill>
                <a:latin typeface="Calibri"/>
              </a:rPr>
              <a:t>Direccionamiento (defaults de Kind)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42316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4233B"/>
                </a:solidFill>
                <a:latin typeface="Calibri"/>
              </a:rPr>
              <a:t>Host loopback  </a:t>
            </a:r>
            <a:r>
              <a:rPr sz="1300" b="1" i="0">
                <a:solidFill>
                  <a:srgbClr val="1C7293"/>
                </a:solidFill>
                <a:latin typeface="Consolas"/>
              </a:rPr>
              <a:t>127.0.0.1/32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4233B"/>
                </a:solidFill>
                <a:latin typeface="Calibri"/>
              </a:rPr>
              <a:t>Nodo Kind (bridge)  </a:t>
            </a:r>
            <a:r>
              <a:rPr sz="1300" b="1" i="0">
                <a:solidFill>
                  <a:srgbClr val="1C7293"/>
                </a:solidFill>
                <a:latin typeface="Consolas"/>
              </a:rPr>
              <a:t>172.18.0.0/16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4233B"/>
                </a:solidFill>
                <a:latin typeface="Calibri"/>
              </a:rPr>
              <a:t>Pods  </a:t>
            </a:r>
            <a:r>
              <a:rPr sz="1300" b="1" i="0">
                <a:solidFill>
                  <a:srgbClr val="1C7293"/>
                </a:solidFill>
                <a:latin typeface="Consolas"/>
              </a:rPr>
              <a:t>10.244.0.0/16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4233B"/>
                </a:solidFill>
                <a:latin typeface="Calibri"/>
              </a:rPr>
              <a:t>Services (ClusterIP)  </a:t>
            </a:r>
            <a:r>
              <a:rPr sz="1300" b="1" i="0">
                <a:solidFill>
                  <a:srgbClr val="1C7293"/>
                </a:solidFill>
                <a:latin typeface="Consolas"/>
              </a:rPr>
              <a:t>10.96.0.0/12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4233B"/>
                </a:solidFill>
                <a:latin typeface="Calibri"/>
              </a:rPr>
              <a:t>CoreDNS  </a:t>
            </a:r>
            <a:r>
              <a:rPr sz="1300" b="1" i="0">
                <a:solidFill>
                  <a:srgbClr val="1C7293"/>
                </a:solidFill>
                <a:latin typeface="Consolas"/>
              </a:rPr>
              <a:t>10.96.0.10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07492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B82"/>
                </a:solidFill>
                <a:latin typeface="Calibri"/>
              </a:rPr>
              <a:t>El WAF intercepta el tráfico norte-sur en el único punto de entrada.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Antes / después: los 5 casos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Caso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37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93A3E"/>
                </a:solidFill>
                <a:latin typeface="Calibri"/>
              </a:rPr>
              <a:t>Pre-WAF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737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AE66"/>
                </a:solidFill>
                <a:latin typeface="Calibri"/>
              </a:rPr>
              <a:t>Post-WAF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20" y="1737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B82"/>
                </a:solidFill>
                <a:latin typeface="Calibri"/>
              </a:rPr>
              <a:t>Bloquea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4233B"/>
                </a:solidFill>
                <a:latin typeface="Consolas"/>
              </a:rPr>
              <a:t>GET /actuator/prometheus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13432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D93A3E"/>
                </a:solidFill>
                <a:latin typeface="Consolas"/>
              </a:rPr>
              <a:t>200 · 19 KB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13432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3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2FAE66"/>
                </a:solidFill>
                <a:latin typeface="Consolas"/>
              </a:rPr>
              <a:t>403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194560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Consolas"/>
              </a:rPr>
              <a:t>custom 99001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80944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ECF1FA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80944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4233B"/>
                </a:solidFill>
                <a:latin typeface="Consolas"/>
              </a:rPr>
              <a:t>Traversal /proxy/catalog/../../actuator/info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99816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D93A3E"/>
                </a:solidFill>
                <a:latin typeface="Consolas"/>
              </a:rPr>
              <a:t>200 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099816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3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2FAE66"/>
                </a:solidFill>
                <a:latin typeface="Consolas"/>
              </a:rPr>
              <a:t>403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980944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Consolas"/>
              </a:rPr>
              <a:t>custom 99002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67328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67328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4233B"/>
                </a:solidFill>
                <a:latin typeface="Consolas"/>
              </a:rPr>
              <a:t>User-Agent: Nikto / sqlmap / nuclei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8620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D93A3E"/>
                </a:solidFill>
                <a:latin typeface="Consolas"/>
              </a:rPr>
              <a:t>200 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88620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3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2FAE66"/>
                </a:solidFill>
                <a:latin typeface="Consolas"/>
              </a:rPr>
              <a:t>403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767328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Consolas"/>
              </a:rPr>
              <a:t>custom 99010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5371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ECF1FA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53712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4233B"/>
                </a:solidFill>
                <a:latin typeface="Consolas"/>
              </a:rPr>
              <a:t>Burst de 100 requests concurrentes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672584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D93A3E"/>
                </a:solidFill>
                <a:latin typeface="Consolas"/>
              </a:rPr>
              <a:t>100×200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4672584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3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2FAE66"/>
                </a:solidFill>
                <a:latin typeface="Consolas"/>
              </a:rPr>
              <a:t>23×429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4553712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Consolas"/>
              </a:rPr>
              <a:t>nginx limit_req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40096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40096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4233B"/>
                </a:solidFill>
                <a:latin typeface="Consolas"/>
              </a:rPr>
              <a:t>Headers de seguridad en la home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545896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D93A3E"/>
                </a:solidFill>
                <a:latin typeface="Consolas"/>
              </a:rPr>
              <a:t>0 /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45896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3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50" b="1" i="0">
                <a:solidFill>
                  <a:srgbClr val="2FAE66"/>
                </a:solidFill>
                <a:latin typeface="Consolas"/>
              </a:rPr>
              <a:t>6 /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340096"/>
            <a:ext cx="1600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Consolas"/>
              </a:rPr>
              <a:t>more_set_headers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27/27 y la prueba en el audit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657600" cy="3749039"/>
          </a:xfrm>
          <a:prstGeom prst="roundRect">
            <a:avLst>
              <a:gd name="adj" fmla="val 6000"/>
            </a:avLst>
          </a:prstGeom>
          <a:solidFill>
            <a:srgbClr val="0E2148"/>
          </a:solidFill>
          <a:ln w="12700">
            <a:solidFill>
              <a:srgbClr val="0E2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2FAE66"/>
                </a:solidFill>
                <a:latin typeface="Trebuchet MS"/>
              </a:rPr>
              <a:t>27/27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tests post-WAF en verde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suite automatizada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1">
                <a:solidFill>
                  <a:srgbClr val="F4A100"/>
                </a:solidFill>
                <a:latin typeface="Calibri"/>
              </a:rPr>
              <a:t>La home y /actuator/health siguen en 200: no rompimos los probes de K8s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72237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233B"/>
                </a:solidFill>
                <a:latin typeface="Trebuchet MS"/>
              </a:rPr>
              <a:t>El audit log demuestra quién bloqueó qué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68880"/>
            <a:ext cx="6766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onsolas"/>
              </a:rPr>
              <a:t>Custom 99001   </a:t>
            </a:r>
            <a:r>
              <a:rPr sz="1250" b="0" i="0">
                <a:solidFill>
                  <a:srgbClr val="14233B"/>
                </a:solidFill>
                <a:latin typeface="Calibri"/>
              </a:rPr>
              <a:t>/actuator/{info,metrics,prometheus,env} + índice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onsolas"/>
              </a:rPr>
              <a:t>Custom 99002-5 </a:t>
            </a:r>
            <a:r>
              <a:rPr sz="1250" b="0" i="0">
                <a:solidFill>
                  <a:srgbClr val="14233B"/>
                </a:solidFill>
                <a:latin typeface="Calibri"/>
              </a:rPr>
              <a:t>traversal y /proxy/* sin sesión válida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onsolas"/>
              </a:rPr>
              <a:t>Custom 99010   </a:t>
            </a:r>
            <a:r>
              <a:rPr sz="1250" b="0" i="0">
                <a:solidFill>
                  <a:srgbClr val="14233B"/>
                </a:solidFill>
                <a:latin typeface="Calibri"/>
              </a:rPr>
              <a:t>User-Agents sqlmap / nikto / nuclei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4A100"/>
                </a:solidFill>
                <a:latin typeface="Consolas"/>
              </a:rPr>
              <a:t>CRS 941xxx   </a:t>
            </a:r>
            <a:r>
              <a:rPr sz="1250" b="0" i="0">
                <a:solidFill>
                  <a:srgbClr val="14233B"/>
                </a:solidFill>
                <a:latin typeface="Calibri"/>
              </a:rPr>
              <a:t>XSS en el checkout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4A100"/>
                </a:solidFill>
                <a:latin typeface="Consolas"/>
              </a:rPr>
              <a:t>CRS 942xxx   </a:t>
            </a:r>
            <a:r>
              <a:rPr sz="1250" b="0" i="0">
                <a:solidFill>
                  <a:srgbClr val="14233B"/>
                </a:solidFill>
                <a:latin typeface="Calibri"/>
              </a:rPr>
              <a:t>SQL injection en el checkout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4A100"/>
                </a:solidFill>
                <a:latin typeface="Consolas"/>
              </a:rPr>
              <a:t>CRS 949110   </a:t>
            </a:r>
            <a:r>
              <a:rPr sz="1250" b="0" i="0">
                <a:solidFill>
                  <a:srgbClr val="14233B"/>
                </a:solidFill>
                <a:latin typeface="Calibri"/>
              </a:rPr>
              <a:t>anomaly score excedido (defensa por scoring)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HONESTIDAD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4233B"/>
                </a:solidFill>
                <a:latin typeface="Trebuchet MS"/>
              </a:rPr>
              <a:t>Limitaciones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6949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4233B"/>
                </a:solidFill>
                <a:latin typeface="Calibri"/>
              </a:rPr>
              <a:t>Un WAF no reemplaza código seguro: es defensa en profundidad, no una bala de plata.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4233B"/>
                </a:solidFill>
                <a:latin typeface="Calibri"/>
              </a:rPr>
              <a:t>Sólo cubre el tráfico norte-sur; el este-oeste entre pods no pasa por el Ingress.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4233B"/>
                </a:solidFill>
                <a:latin typeface="Calibri"/>
              </a:rPr>
              <a:t>Bypass por encoding (doble URL-encode, Unicode) es un campo activo de evasión.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4233B"/>
                </a:solidFill>
                <a:latin typeface="Calibri"/>
              </a:rPr>
              <a:t>Falsos positivos a Paranoia Levels altos: quedamos en PL1 para la demo.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4233B"/>
                </a:solidFill>
                <a:latin typeface="Calibri"/>
              </a:rPr>
              <a:t>CSP en modo Report-Only: observa, todavía no bloquea.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4233B"/>
                </a:solidFill>
                <a:latin typeface="Calibri"/>
              </a:rPr>
              <a:t>Ataques de lógica de negocio no los detecta un WAF de reglas.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977639" cy="3840480"/>
          </a:xfrm>
          <a:prstGeom prst="roundRect">
            <a:avLst>
              <a:gd name="adj" fmla="val 6000"/>
            </a:avLst>
          </a:prstGeom>
          <a:solidFill>
            <a:srgbClr val="0E2148"/>
          </a:solidFill>
          <a:ln w="12700">
            <a:solidFill>
              <a:srgbClr val="0E2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4A100"/>
                </a:solidFill>
                <a:latin typeface="Trebuchet MS"/>
              </a:rPr>
              <a:t>Trabajo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06040"/>
            <a:ext cx="3520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Subir a Paranoia Level 2 con tuning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Evaluar Coraza (CRS en Go)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NetworkPolicies para el este-oeste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Enforcement real de la CSP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Calibri"/>
              </a:rPr>
              <a:t>TPE Tema 9 · Protección de Servicios con WAF · The Store · Grupo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37376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A100"/>
                </a:solidFill>
                <a:latin typeface="Calibri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Trebuchet MS"/>
              </a:rPr>
              <a:t>10 vectores mitigados, 0 cambios en los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F4A100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ModSecurity + CRS en el Ingress, con reglas custom sólo para la lógica de The Store.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F4A100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El CRS resolvió XSS/SQLi sin una línea custom; 5 reglas propias cubrieron el resto.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F4A100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Todo declarativo, idempotente y reversible; integrado en local.sh y reproducible (HOWTO).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F4A100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23/23 tests post-WAF; la app legítima sigue intacta.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7492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14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3036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1">
                <a:solidFill>
                  <a:srgbClr val="FFFFFF"/>
                </a:solidFill>
                <a:latin typeface="Calibri"/>
              </a:rPr>
              <a:t>El aprendizaje real no fue escribir reglas, sino operar el WAF: el tuning es donde se juega que sea útil.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Consolas"/>
              </a:rPr>
              <a:t>github.com/maurovella/g2-WAF-the-store-ITBA  ·  rama feat/waf-modsecurity  ·  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